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6D7FDE-93D1-46F1-9061-9AA11AB7C660}" v="379" dt="2025-12-03T17:00:50.625"/>
    <p1510:client id="{D1736CE5-3882-4CF2-BD6B-C74B14FB4B9A}" v="88" dt="2025-12-02T19:06:25.9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4600E6-432A-4073-9252-497F22DC3DF2}" type="datetimeFigureOut">
              <a:t>12/3/2025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5D982-4667-4F9D-9D99-8F655192C2AB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857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9219" y="1100138"/>
            <a:ext cx="7205561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76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Research &amp; Analysis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600" y="1795463"/>
            <a:ext cx="79248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FMCG Sector in India: Investment Opportunities 2024-2033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465863" y="2919413"/>
            <a:ext cx="42121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Banking &amp; Financial Analytics Project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145402" y="3214688"/>
            <a:ext cx="48531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84"/>
              </a:lnSpc>
              <a:buNone/>
            </a:pPr>
            <a:r>
              <a:rPr lang="en-US" sz="13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Size: USD 245.39B → USD 1.1T (4.5x Growth Potential)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3424205" y="3871913"/>
            <a:ext cx="229559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December 2025 | CAGR: 17.33%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1575"/>
            <a:ext cx="3853842" cy="73149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979265"/>
            <a:ext cx="3857756" cy="73149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2786955"/>
            <a:ext cx="3865585" cy="73149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413881"/>
            <a:ext cx="808329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Overview: FMCG in India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90575" y="1323975"/>
            <a:ext cx="774325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Size (2024)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790575" y="1541115"/>
            <a:ext cx="774325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28"/>
              </a:lnSpc>
              <a:buNone/>
            </a:pPr>
            <a:r>
              <a:rPr lang="en-US" sz="144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245.39 Billion</a:t>
            </a:r>
            <a:endParaRPr lang="en-US" sz="1440" dirty="0"/>
          </a:p>
        </p:txBody>
      </p:sp>
      <p:sp>
        <p:nvSpPr>
          <p:cNvPr id="8" name="Text 6"/>
          <p:cNvSpPr/>
          <p:nvPr/>
        </p:nvSpPr>
        <p:spPr>
          <a:xfrm>
            <a:off x="790575" y="2131665"/>
            <a:ext cx="774325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Size (2033)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790575" y="2348805"/>
            <a:ext cx="774325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28"/>
              </a:lnSpc>
              <a:buNone/>
            </a:pPr>
            <a:r>
              <a:rPr lang="en-US" sz="144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1,108 Billion</a:t>
            </a:r>
            <a:endParaRPr lang="en-US" sz="1440" dirty="0"/>
          </a:p>
        </p:txBody>
      </p:sp>
      <p:sp>
        <p:nvSpPr>
          <p:cNvPr id="10" name="Text 8"/>
          <p:cNvSpPr/>
          <p:nvPr/>
        </p:nvSpPr>
        <p:spPr>
          <a:xfrm>
            <a:off x="790575" y="2939355"/>
            <a:ext cx="774325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Multiple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790575" y="3156496"/>
            <a:ext cx="774325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28"/>
              </a:lnSpc>
              <a:buNone/>
            </a:pPr>
            <a:r>
              <a:rPr lang="en-US" sz="144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4.5x (9 Years)</a:t>
            </a:r>
            <a:endParaRPr lang="en-US" sz="1440" dirty="0"/>
          </a:p>
        </p:txBody>
      </p:sp>
      <p:sp>
        <p:nvSpPr>
          <p:cNvPr id="12" name="Text 10"/>
          <p:cNvSpPr/>
          <p:nvPr/>
        </p:nvSpPr>
        <p:spPr>
          <a:xfrm>
            <a:off x="842963" y="3701802"/>
            <a:ext cx="7620000" cy="1440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17.33% (Above GDP growth)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Segments: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Food (30%), Personal Care (40%), Household (30%)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Drivers: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Urbanization, rising incomes, e-commerce, health trends</a:t>
            </a:r>
            <a:endParaRPr lang="en-US" sz="1200" dirty="0"/>
          </a:p>
          <a:p>
            <a:pPr marL="342900" indent="-342900">
              <a:lnSpc>
                <a:spcPts val="2880"/>
              </a:lnSpc>
              <a:buSzPct val="100000"/>
              <a:buChar char="•"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Appeal:</a:t>
            </a: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Defensive, resilient, high growth</a:t>
            </a:r>
            <a:endParaRPr lang="en-US" sz="1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7638F48-1C72-014B-1596-6D7DC3C3D1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0043" y="978596"/>
            <a:ext cx="4388024" cy="261480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Trends &amp; Consumer Evolution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1575"/>
            <a:ext cx="808329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&amp; Wellness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09600" y="1581150"/>
            <a:ext cx="8083296" cy="171450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/>
                <a:ea typeface="Arial" pitchFamily="34" charset="-122"/>
                <a:cs typeface="Arial"/>
              </a:rPr>
              <a:t>Natural/organic products growing at </a:t>
            </a:r>
            <a:r>
              <a:rPr lang="en-US" sz="1200" b="1" dirty="0">
                <a:solidFill>
                  <a:srgbClr val="000000"/>
                </a:solidFill>
                <a:latin typeface="Arial"/>
                <a:ea typeface="Arial" pitchFamily="34" charset="-122"/>
                <a:cs typeface="Arial"/>
              </a:rPr>
              <a:t>1.8x</a:t>
            </a:r>
            <a:r>
              <a:rPr lang="en-US" sz="1200" dirty="0">
                <a:solidFill>
                  <a:srgbClr val="000000"/>
                </a:solidFill>
                <a:latin typeface="Arial"/>
                <a:ea typeface="Arial" pitchFamily="34" charset="-122"/>
                <a:cs typeface="Arial"/>
              </a:rPr>
              <a:t> conventional alternatives. 60% consumers seek functional benefits.</a:t>
            </a:r>
            <a:endParaRPr lang="en-US" sz="1200">
              <a:solidFill>
                <a:srgbClr val="000000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2050256"/>
            <a:ext cx="808329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Disruption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09600" y="2486107"/>
            <a:ext cx="8083296" cy="171450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multi-channel consumers. Quick commerce captured 15% of urban sales, growing </a:t>
            </a: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 YoY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2928938"/>
            <a:ext cx="808329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Rural Focus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09600" y="3312237"/>
            <a:ext cx="8083296" cy="171450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 of companies targeting Tier 2/3 towns. Volume growth </a:t>
            </a: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8%+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rural markets.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600" y="3807619"/>
            <a:ext cx="808329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Premiumization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09600" y="4220478"/>
            <a:ext cx="8083296" cy="171450"/>
          </a:xfrm>
          <a:prstGeom prst="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 of leaders see premium products as growth driver. D2C channels growing </a:t>
            </a: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 YoY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6548"/>
            <a:ext cx="808329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Landscape: Top 5 Players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935092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🥇 ITC Limited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09600" y="1284561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68"/>
              </a:lnSpc>
              <a:buNone/>
            </a:pPr>
            <a:r>
              <a:rPr lang="en-US" sz="1100" b="1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Market Share:</a:t>
            </a:r>
            <a:r>
              <a:rPr lang="en-US" sz="11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 14% (Largest)</a:t>
            </a:r>
            <a:endParaRPr lang="en-US" sz="11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1446486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68"/>
              </a:lnSpc>
              <a:buNone/>
            </a:pPr>
            <a:r>
              <a:rPr lang="en-US" sz="1100" b="1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Market Cap:</a:t>
            </a:r>
            <a:r>
              <a:rPr lang="en-US" sz="11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 ₹5.02L Cr</a:t>
            </a:r>
            <a:endParaRPr lang="en-US" sz="11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9600" y="1611696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68"/>
              </a:lnSpc>
              <a:buNone/>
            </a:pPr>
            <a:r>
              <a:rPr lang="en-US" sz="1100" b="1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Brands:</a:t>
            </a:r>
            <a:r>
              <a:rPr lang="en-US" sz="11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 Aashirvaad, Sunfeast, Engage</a:t>
            </a:r>
            <a:endParaRPr lang="en-US" sz="11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7" name="Text 5"/>
          <p:cNvSpPr/>
          <p:nvPr/>
        </p:nvSpPr>
        <p:spPr>
          <a:xfrm>
            <a:off x="609600" y="1849164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68"/>
              </a:lnSpc>
              <a:buNone/>
            </a:pPr>
            <a:r>
              <a:rPr lang="en-US" sz="114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P/E: 24.89x ✓ (Undervalued)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609600" y="2021271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🥈 HUL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9600" y="2341179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68"/>
              </a:lnSpc>
              <a:buNone/>
            </a:pPr>
            <a:r>
              <a:rPr lang="en-US" sz="1100" b="1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Market Share:</a:t>
            </a:r>
            <a:r>
              <a:rPr lang="en-US" sz="11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 12%</a:t>
            </a:r>
            <a:endParaRPr lang="en-US" sz="11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09600" y="2503104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68"/>
              </a:lnSpc>
              <a:buNone/>
            </a:pPr>
            <a:r>
              <a:rPr lang="en-US" sz="1100" b="1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Market Cap:</a:t>
            </a:r>
            <a:r>
              <a:rPr lang="en-US" sz="11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 ₹5.82L Cr</a:t>
            </a:r>
            <a:endParaRPr lang="en-US" sz="11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09600" y="2665029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68"/>
              </a:lnSpc>
              <a:buNone/>
            </a:pPr>
            <a:r>
              <a:rPr lang="en-US" sz="1100" b="1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Brands:</a:t>
            </a:r>
            <a:r>
              <a:rPr lang="en-US" sz="11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 Lux, Lipton, Vaseline</a:t>
            </a:r>
            <a:endParaRPr lang="en-US" sz="11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09600" y="2912351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68"/>
              </a:lnSpc>
              <a:buNone/>
            </a:pPr>
            <a:r>
              <a:rPr lang="en-US" sz="114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P/E: 53.03x (Premium)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609600" y="3074933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🥉 Nestle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9600" y="3421117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68"/>
              </a:lnSpc>
              <a:buNone/>
            </a:pPr>
            <a:r>
              <a:rPr lang="en-US" sz="1100" b="1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Market Share:</a:t>
            </a:r>
            <a:r>
              <a:rPr lang="en-US" sz="11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 3% (Premium)</a:t>
            </a:r>
            <a:endParaRPr lang="en-US" sz="11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09600" y="3583042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68"/>
              </a:lnSpc>
              <a:buNone/>
            </a:pPr>
            <a:r>
              <a:rPr lang="en-US" sz="1100" b="1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Cerelac:</a:t>
            </a:r>
            <a:r>
              <a:rPr lang="en-US" sz="11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 96% dominance</a:t>
            </a:r>
            <a:endParaRPr lang="en-US" sz="11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09600" y="3744967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68"/>
              </a:lnSpc>
              <a:buNone/>
            </a:pPr>
            <a:r>
              <a:rPr lang="en-US" sz="1100" b="1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Key:</a:t>
            </a:r>
            <a:r>
              <a:rPr lang="en-US" sz="11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 Maggi, Nescafé</a:t>
            </a:r>
            <a:endParaRPr lang="en-US" sz="11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09600" y="3906892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68"/>
              </a:lnSpc>
              <a:buNone/>
            </a:pPr>
            <a:r>
              <a:rPr lang="en-US" sz="114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P/E: 81.24x (Expensive)</a:t>
            </a:r>
            <a:endParaRPr lang="en-US" sz="1140" dirty="0"/>
          </a:p>
        </p:txBody>
      </p:sp>
      <p:sp>
        <p:nvSpPr>
          <p:cNvPr id="18" name="Text 16"/>
          <p:cNvSpPr/>
          <p:nvPr/>
        </p:nvSpPr>
        <p:spPr>
          <a:xfrm>
            <a:off x="609600" y="3987362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Britannia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09600" y="4336174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68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#1 Biscuits, 3% share, ₹1.42L Cr market cap | P/E: 61.22x</a:t>
            </a:r>
            <a:endParaRPr lang="en-US" sz="11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09600" y="4412703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Godrej Consumer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09600" y="4758230"/>
            <a:ext cx="80832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68"/>
              </a:lnSpc>
              <a:buNone/>
            </a:pPr>
            <a:r>
              <a:rPr lang="en-US" sz="11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Niche player, 2% share, ₹1.16L Cr market cap | P/E: 61.67x</a:t>
            </a:r>
            <a:endParaRPr lang="en-US" sz="11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3360"/>
            <a:ext cx="808329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Analysis: Price-to-Earnings Ratio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3420455"/>
            <a:ext cx="80832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24"/>
              </a:lnSpc>
              <a:buNone/>
            </a:pPr>
            <a:r>
              <a:rPr lang="en-US" sz="102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Average P/E: 56.41x</a:t>
            </a:r>
            <a:r>
              <a:rPr lang="en-US" sz="10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| Sector Benchmark for quality FMCG</a:t>
            </a:r>
            <a:endParaRPr lang="en-US" sz="1020" dirty="0"/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A312B526-86DC-44F2-3900-F7CFB2B2B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72609"/>
            <a:ext cx="5401850" cy="2573464"/>
          </a:xfrm>
          <a:prstGeom prst="rect">
            <a:avLst/>
          </a:prstGeom>
        </p:spPr>
      </p:pic>
      <p:pic>
        <p:nvPicPr>
          <p:cNvPr id="5" name="Picture 4" descr="A graph of blue bars&#10;&#10;AI-generated content may be incorrect.">
            <a:extLst>
              <a:ext uri="{FF2B5EF4-FFF2-40B4-BE49-F238E27FC236}">
                <a16:creationId xmlns:a16="http://schemas.microsoft.com/office/drawing/2014/main" id="{C7AB9D3A-35BC-347D-5E43-439AA709A4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3806" y="782877"/>
            <a:ext cx="3605148" cy="298276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3910" y="989213"/>
            <a:ext cx="3462403" cy="366393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3910" y="1492648"/>
            <a:ext cx="3460379" cy="32292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43910" y="1923689"/>
            <a:ext cx="3459750" cy="339351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3910" y="2379746"/>
            <a:ext cx="3463034" cy="321039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7194" y="2967052"/>
            <a:ext cx="3470862" cy="359552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3910" y="3392019"/>
            <a:ext cx="3462403" cy="321668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0479" y="3792869"/>
            <a:ext cx="3462403" cy="326978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41255" y="4242987"/>
            <a:ext cx="3463034" cy="395816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43910" y="87367"/>
            <a:ext cx="808329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Efficiency: ROE &amp; ROCE Analysis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543910" y="649342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96"/>
              </a:lnSpc>
              <a:buNone/>
            </a:pPr>
            <a:r>
              <a:rPr lang="en-US" sz="15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ROE % (Return on Equity)</a:t>
            </a:r>
            <a:endParaRPr lang="en-US" sz="1560" dirty="0"/>
          </a:p>
        </p:txBody>
      </p:sp>
      <p:sp>
        <p:nvSpPr>
          <p:cNvPr id="12" name="Text 10"/>
          <p:cNvSpPr/>
          <p:nvPr/>
        </p:nvSpPr>
        <p:spPr>
          <a:xfrm>
            <a:off x="698609" y="1007715"/>
            <a:ext cx="77432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28"/>
              </a:lnSpc>
              <a:buNone/>
            </a:pPr>
            <a:r>
              <a:rPr lang="en-US" sz="10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Nestle India: 75.91%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724885" y="1212045"/>
            <a:ext cx="77432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24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Exceptional profit generation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724885" y="1493962"/>
            <a:ext cx="77432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28"/>
              </a:lnSpc>
              <a:buNone/>
            </a:pPr>
            <a:r>
              <a:rPr lang="en-US" sz="10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Britannia: 54.80%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724885" y="1675301"/>
            <a:ext cx="77432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24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Superior management quality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724885" y="1930942"/>
            <a:ext cx="77432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28"/>
              </a:lnSpc>
              <a:buNone/>
            </a:pPr>
            <a:r>
              <a:rPr lang="en-US" sz="10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ITC: 28.0%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724885" y="2118850"/>
            <a:ext cx="77432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24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diversified returns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724885" y="2381060"/>
            <a:ext cx="77432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28"/>
              </a:lnSpc>
              <a:buNone/>
            </a:pPr>
            <a:r>
              <a:rPr lang="en-US" sz="10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HUL: 21.12% | Godrej: 15.49%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724885" y="2542692"/>
            <a:ext cx="77432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24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25% quality threshold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553763" y="2716220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96"/>
              </a:lnSpc>
              <a:buNone/>
            </a:pPr>
            <a:r>
              <a:rPr lang="en-US" sz="15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ROCE % (Return on Capital Employed)</a:t>
            </a:r>
            <a:endParaRPr lang="en-US" sz="1560" dirty="0"/>
          </a:p>
        </p:txBody>
      </p:sp>
      <p:sp>
        <p:nvSpPr>
          <p:cNvPr id="21" name="Text 19"/>
          <p:cNvSpPr/>
          <p:nvPr/>
        </p:nvSpPr>
        <p:spPr>
          <a:xfrm>
            <a:off x="724885" y="2995766"/>
            <a:ext cx="77432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28"/>
              </a:lnSpc>
              <a:buNone/>
            </a:pPr>
            <a:r>
              <a:rPr lang="en-US" sz="10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Nestle India: 111.22%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724885" y="3177105"/>
            <a:ext cx="77432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24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Best-in-class capital deployment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724885" y="3393332"/>
            <a:ext cx="77432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28"/>
              </a:lnSpc>
              <a:buNone/>
            </a:pPr>
            <a:r>
              <a:rPr lang="en-US" sz="10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Britannia: 52.99%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724885" y="3554965"/>
            <a:ext cx="77432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24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Exceptional capital efficiency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734739" y="3794183"/>
            <a:ext cx="77432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28"/>
              </a:lnSpc>
              <a:buNone/>
            </a:pPr>
            <a:r>
              <a:rPr lang="en-US" sz="10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ITC: 39.4%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734739" y="3955816"/>
            <a:ext cx="77432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24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operational returns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724885" y="4244301"/>
            <a:ext cx="77432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28"/>
              </a:lnSpc>
              <a:buNone/>
            </a:pPr>
            <a:r>
              <a:rPr lang="en-US" sz="108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HUL: 30% | Godrej: 19.92%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724885" y="4409218"/>
            <a:ext cx="77432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24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25% acceptable threshold</a:t>
            </a:r>
            <a:endParaRPr lang="en-US" sz="1020" dirty="0"/>
          </a:p>
        </p:txBody>
      </p:sp>
      <p:pic>
        <p:nvPicPr>
          <p:cNvPr id="29" name="Picture 28" descr="A graph of a company&#10;&#10;AI-generated content may be incorrect.">
            <a:extLst>
              <a:ext uri="{FF2B5EF4-FFF2-40B4-BE49-F238E27FC236}">
                <a16:creationId xmlns:a16="http://schemas.microsoft.com/office/drawing/2014/main" id="{E24BF3CC-F770-6E4C-35AF-1B048D236B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9063" y="587159"/>
            <a:ext cx="4579828" cy="2184226"/>
          </a:xfrm>
          <a:prstGeom prst="rect">
            <a:avLst/>
          </a:prstGeom>
        </p:spPr>
      </p:pic>
      <p:pic>
        <p:nvPicPr>
          <p:cNvPr id="30" name="Picture 29" descr="A graph of a number of orange bars&#10;&#10;AI-generated content may be incorrect.">
            <a:extLst>
              <a:ext uri="{FF2B5EF4-FFF2-40B4-BE49-F238E27FC236}">
                <a16:creationId xmlns:a16="http://schemas.microsoft.com/office/drawing/2014/main" id="{41C13800-CB7E-1E73-921B-F2463555E2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9063" y="2869243"/>
            <a:ext cx="4575915" cy="21294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Profitability Margins Analysis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1575"/>
            <a:ext cx="808329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04"/>
              </a:lnSpc>
              <a:buNone/>
            </a:pPr>
            <a:r>
              <a:rPr lang="en-US" sz="14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 %</a:t>
            </a:r>
            <a:endParaRPr lang="en-US" sz="1440" dirty="0"/>
          </a:p>
        </p:txBody>
      </p:sp>
      <p:sp>
        <p:nvSpPr>
          <p:cNvPr id="4" name="Text 2"/>
          <p:cNvSpPr/>
          <p:nvPr/>
        </p:nvSpPr>
        <p:spPr>
          <a:xfrm>
            <a:off x="609600" y="3818781"/>
            <a:ext cx="808329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04"/>
              </a:lnSpc>
              <a:buNone/>
            </a:pPr>
            <a:endParaRPr lang="en-US" sz="1400" b="1" dirty="0">
              <a:solidFill>
                <a:srgbClr val="38BDF8"/>
              </a:solidFill>
              <a:latin typeface="Arial"/>
              <a:cs typeface="Arial"/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465987"/>
            <a:ext cx="808329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04"/>
              </a:lnSpc>
              <a:buNone/>
            </a:pPr>
            <a:r>
              <a:rPr lang="en-US" sz="14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Profit Margin %</a:t>
            </a:r>
            <a:endParaRPr lang="en-US" sz="1440" dirty="0"/>
          </a:p>
        </p:txBody>
      </p:sp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BAA4222E-CFB2-5FC6-3C95-AD58802158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99837"/>
            <a:ext cx="9144000" cy="24274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Strength: Debt &amp; Leverage Analysis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3985291"/>
            <a:ext cx="80832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24"/>
              </a:lnSpc>
              <a:buNone/>
            </a:pPr>
            <a:r>
              <a:rPr lang="en-US" sz="102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FMCG Advantage:</a:t>
            </a:r>
            <a:r>
              <a:rPr lang="en-US" sz="102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Asset-light business model allows minimal debt. All peers maintain investment-grade credit ratings.</a:t>
            </a:r>
            <a:endParaRPr lang="en-US" sz="1020" dirty="0"/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8D83A65C-31BA-9CC5-65F7-DB3E52C2E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75121"/>
            <a:ext cx="9144000" cy="239325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40059"/>
            <a:ext cx="808329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STRONG BUY: ITC Limited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797737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00B0F0"/>
                </a:solidFill>
                <a:latin typeface="Arial"/>
                <a:ea typeface="Arial" pitchFamily="34" charset="-122"/>
                <a:cs typeface="Arial"/>
              </a:rPr>
              <a:t>Valuation Attraction</a:t>
            </a:r>
            <a:endParaRPr lang="en-US" sz="1800">
              <a:solidFill>
                <a:srgbClr val="00B0F0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600" y="1116001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P/E </a:t>
            </a:r>
            <a:r>
              <a:rPr lang="en-US" sz="1200" b="1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24.89x</a:t>
            </a:r>
            <a:r>
              <a:rPr lang="en-US" sz="12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 (55.8% discount to peers)</a:t>
            </a:r>
            <a:endParaRPr lang="en-US" sz="12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1287451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Target Price: ₹520-550 (12 months)</a:t>
            </a:r>
            <a:endParaRPr lang="en-US" sz="12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9600" y="1458901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00B050"/>
                </a:solidFill>
                <a:latin typeface="Arial"/>
                <a:ea typeface="Arial" pitchFamily="34" charset="-122"/>
                <a:cs typeface="Arial"/>
              </a:rPr>
              <a:t>Expected Return: 30-37%</a:t>
            </a:r>
            <a:endParaRPr lang="en-US" sz="1200">
              <a:solidFill>
                <a:srgbClr val="00B050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7" name="Text 5"/>
          <p:cNvSpPr/>
          <p:nvPr/>
        </p:nvSpPr>
        <p:spPr>
          <a:xfrm>
            <a:off x="609600" y="1626054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00B0F0"/>
                </a:solidFill>
                <a:latin typeface="Arial"/>
                <a:ea typeface="Arial" pitchFamily="34" charset="-122"/>
                <a:cs typeface="Arial"/>
              </a:rPr>
              <a:t>Fundamental Strengths</a:t>
            </a:r>
            <a:endParaRPr lang="en-US" sz="1800">
              <a:solidFill>
                <a:srgbClr val="00B0F0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1892753"/>
            <a:ext cx="80832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✓ 14% market share (largest)</a:t>
            </a:r>
            <a:endParaRPr lang="en-US" sz="12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9600" y="2078026"/>
            <a:ext cx="80832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✓ 32% net margin (highest)</a:t>
            </a:r>
            <a:endParaRPr lang="en-US" sz="12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09600" y="2259001"/>
            <a:ext cx="80832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✓ Zero debt | ROCE: 39.4%</a:t>
            </a:r>
            <a:endParaRPr lang="en-US" sz="12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09600" y="2439976"/>
            <a:ext cx="80832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✓ ₹677Cr revenue (diversified)</a:t>
            </a:r>
            <a:endParaRPr lang="en-US" sz="12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09600" y="2618659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00B0F0"/>
                </a:solidFill>
                <a:latin typeface="Arial"/>
                <a:ea typeface="Arial" pitchFamily="34" charset="-122"/>
                <a:cs typeface="Arial"/>
              </a:rPr>
              <a:t>Growth Catalysts</a:t>
            </a:r>
            <a:endParaRPr lang="en-US" sz="1800">
              <a:solidFill>
                <a:srgbClr val="00B0F0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9600" y="2885359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• Aashirvaad expansion in rural (8%+ growth)</a:t>
            </a:r>
            <a:endParaRPr lang="en-US" sz="12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09600" y="3056809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• Premiumization trend (1.8x growth)</a:t>
            </a:r>
            <a:endParaRPr lang="en-US" sz="12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09600" y="3228259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• D2C channels (45% YoY growth)</a:t>
            </a:r>
            <a:endParaRPr lang="en-US" sz="12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09600" y="3399709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• E-Choupal platform advantages</a:t>
            </a:r>
            <a:endParaRPr lang="en-US" sz="12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09600" y="3571159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00B0F0"/>
                </a:solidFill>
                <a:latin typeface="Arial"/>
                <a:ea typeface="Arial" pitchFamily="34" charset="-122"/>
                <a:cs typeface="Arial"/>
              </a:rPr>
              <a:t>Portfolio Allocation</a:t>
            </a:r>
            <a:endParaRPr lang="en-US" sz="1800">
              <a:solidFill>
                <a:srgbClr val="00B0F0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09600" y="3837859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Value Investors:</a:t>
            </a:r>
            <a:r>
              <a:rPr lang="en-US" sz="12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 ITC 60%</a:t>
            </a:r>
            <a:endParaRPr lang="en-US" sz="12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09600" y="4009309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Growth Investors:</a:t>
            </a:r>
            <a:r>
              <a:rPr lang="en-US" sz="12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 ITC 50%</a:t>
            </a:r>
            <a:endParaRPr lang="en-US" sz="12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09600" y="4180759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Dividend Seekers:</a:t>
            </a:r>
            <a:r>
              <a:rPr lang="en-US" sz="12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 ITC 40%</a:t>
            </a:r>
            <a:endParaRPr lang="en-US" sz="12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09600" y="4352209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Dividend Yield:</a:t>
            </a:r>
            <a:r>
              <a:rPr lang="en-US" sz="12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 2.15%</a:t>
            </a:r>
            <a:endParaRPr lang="en-US" sz="12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57305"/>
            <a:ext cx="808329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BUY: Britannia Industries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831024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00B0F0"/>
                </a:solidFill>
                <a:latin typeface="Arial"/>
                <a:ea typeface="Arial" pitchFamily="34" charset="-122"/>
                <a:cs typeface="Arial"/>
              </a:rPr>
              <a:t>Quality Premium Play</a:t>
            </a:r>
            <a:endParaRPr lang="en-US" sz="1800">
              <a:solidFill>
                <a:srgbClr val="00B0F0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600" y="1199498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P/E </a:t>
            </a:r>
            <a:r>
              <a:rPr lang="en-US" sz="1200" b="1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61.22x</a:t>
            </a:r>
            <a:r>
              <a:rPr lang="en-US" sz="12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 (justified by quality)</a:t>
            </a:r>
            <a:endParaRPr lang="en-US" sz="12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1370948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Target Price: ₹6,500-7,000 (12 months)</a:t>
            </a:r>
            <a:endParaRPr lang="en-US" sz="12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9600" y="1542398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00B050"/>
                </a:solidFill>
                <a:latin typeface="Arial"/>
                <a:ea typeface="Arial" pitchFamily="34" charset="-122"/>
                <a:cs typeface="Arial"/>
              </a:rPr>
              <a:t>Expected Return: 10-19%</a:t>
            </a:r>
            <a:endParaRPr lang="en-US" sz="1200">
              <a:solidFill>
                <a:srgbClr val="00B050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7" name="Text 5"/>
          <p:cNvSpPr/>
          <p:nvPr/>
        </p:nvSpPr>
        <p:spPr>
          <a:xfrm>
            <a:off x="609600" y="1713848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00B0F0"/>
                </a:solidFill>
                <a:latin typeface="Arial"/>
                <a:ea typeface="Arial" pitchFamily="34" charset="-122"/>
                <a:cs typeface="Arial"/>
              </a:rPr>
              <a:t>Capital Efficiency</a:t>
            </a:r>
            <a:endParaRPr lang="en-US" sz="1800">
              <a:solidFill>
                <a:srgbClr val="00B0F0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2070578"/>
            <a:ext cx="80832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✓ ROE: 54.80% (top-tier)</a:t>
            </a:r>
            <a:endParaRPr lang="en-US" sz="12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9600" y="2251553"/>
            <a:ext cx="80832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✓ ROCE: 52.99% (exceptional)</a:t>
            </a:r>
            <a:endParaRPr lang="en-US" sz="12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09600" y="2432528"/>
            <a:ext cx="80832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✓ Gross Margin: 75.8%</a:t>
            </a:r>
            <a:endParaRPr lang="en-US" sz="12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09600" y="2617418"/>
            <a:ext cx="80832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✓ Net Margin: 13.0%</a:t>
            </a:r>
            <a:endParaRPr lang="en-US" sz="12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09600" y="2798132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00B0F0"/>
                </a:solidFill>
                <a:latin typeface="Arial"/>
                <a:ea typeface="Arial" pitchFamily="34" charset="-122"/>
                <a:cs typeface="Arial"/>
              </a:rPr>
              <a:t>Business Quality</a:t>
            </a:r>
            <a:endParaRPr lang="en-US" sz="1800">
              <a:solidFill>
                <a:srgbClr val="00B0F0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9600" y="3096147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• #1 in biscuits category (strong moat)</a:t>
            </a:r>
            <a:endParaRPr lang="en-US" sz="12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09600" y="3267597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• Consistent dividend payer</a:t>
            </a:r>
            <a:endParaRPr lang="en-US" sz="12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09600" y="3439047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• Efficient operations (proven management)</a:t>
            </a:r>
            <a:endParaRPr lang="en-US" sz="12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09600" y="3606583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• Pricing power in premium segment</a:t>
            </a:r>
            <a:endParaRPr lang="en-US" sz="12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09600" y="3778033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00B0F0"/>
                </a:solidFill>
                <a:latin typeface="Arial"/>
                <a:ea typeface="Arial" pitchFamily="34" charset="-122"/>
                <a:cs typeface="Arial"/>
              </a:rPr>
              <a:t>Portfolio Allocation</a:t>
            </a:r>
            <a:endParaRPr lang="en-US" sz="1800">
              <a:solidFill>
                <a:srgbClr val="00B0F0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09600" y="4134763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Value Investors:</a:t>
            </a:r>
            <a:r>
              <a:rPr lang="en-US" sz="12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 Britannia 40%</a:t>
            </a:r>
            <a:endParaRPr lang="en-US" sz="12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09600" y="4306213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Conservative:</a:t>
            </a:r>
            <a:r>
              <a:rPr lang="en-US" sz="12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 Britannia 40%</a:t>
            </a:r>
            <a:endParaRPr lang="en-US" sz="12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09600" y="4477663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Growth Investors:</a:t>
            </a:r>
            <a:r>
              <a:rPr lang="en-US" sz="12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 Britannia 30%</a:t>
            </a:r>
            <a:endParaRPr lang="en-US" sz="12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09600" y="4649113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Dividend Yield:</a:t>
            </a:r>
            <a:r>
              <a:rPr lang="en-US" sz="12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 1.56%</a:t>
            </a:r>
            <a:endParaRPr lang="en-US" sz="12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06052"/>
            <a:ext cx="808329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HOLD: HUL &amp; Nestle India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1575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HUL - Market Leader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09600" y="1438275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Why HOLD (Not BUY):</a:t>
            </a:r>
            <a:endParaRPr lang="en-US" sz="12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1609725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• P/E 53x reflects quality premium</a:t>
            </a:r>
            <a:endParaRPr lang="en-US" sz="120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9600" y="1781175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• Volume growth only 2% (below sector)</a:t>
            </a:r>
            <a:endParaRPr lang="en-US" sz="12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7" name="Text 5"/>
          <p:cNvSpPr/>
          <p:nvPr/>
        </p:nvSpPr>
        <p:spPr>
          <a:xfrm>
            <a:off x="609600" y="1952625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• Margin pressure: 16.9% net</a:t>
            </a:r>
            <a:endParaRPr lang="en-US" sz="12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2124075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• Mature valuations, limited upside</a:t>
            </a:r>
            <a:endParaRPr lang="en-US" sz="12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9600" y="2371725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₹2,600-2,700 (5-9% return)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9600" y="2543175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HUL Positives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09600" y="2809875"/>
            <a:ext cx="80832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✓ 12% market share (leader)</a:t>
            </a:r>
            <a:endParaRPr lang="en-US" sz="12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09600" y="2990850"/>
            <a:ext cx="80832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✓ Unmatched distribution (500K+ retailers)</a:t>
            </a:r>
            <a:endParaRPr lang="en-US" sz="12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9600" y="3171825"/>
            <a:ext cx="80832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✓ Global brands: Lux, Vaseline, Lipton</a:t>
            </a:r>
            <a:endParaRPr lang="en-US" sz="12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09600" y="3352800"/>
            <a:ext cx="80832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✓ Dividend: 1.74% yield</a:t>
            </a:r>
            <a:endParaRPr lang="en-US" sz="12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09600" y="3686175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Nestle - Wait for Entry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09600" y="3952875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Why HOLD (Don't Buy Now):</a:t>
            </a:r>
            <a:endParaRPr lang="en-US" sz="12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09600" y="4124325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• P/E 81.24x (highest premium)</a:t>
            </a:r>
            <a:endParaRPr lang="en-US" sz="12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09600" y="4295775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• 15-20% overvalued at current levels</a:t>
            </a:r>
            <a:endParaRPr lang="en-US" sz="12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09600" y="4467225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• Single category risk (Cerelac 96%)</a:t>
            </a:r>
            <a:endParaRPr lang="en-US" sz="12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09600" y="4638675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• Wait for 8-10% correction</a:t>
            </a:r>
            <a:endParaRPr lang="en-US" sz="12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09600" y="4886325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₹1,260 | Target: ₹1,350-1,450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53158" y="1170792"/>
            <a:ext cx="3464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Nestle Exceptional Quality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653158" y="1523609"/>
            <a:ext cx="3605242" cy="165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✓ ROCE: 111.22% (best-in-class)</a:t>
            </a:r>
            <a:endParaRPr lang="en-US" sz="12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653158" y="1692843"/>
            <a:ext cx="3816618" cy="165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✓ ROE: 75.91% (exceptional)</a:t>
            </a:r>
            <a:endParaRPr lang="en-US" sz="12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653158" y="1865987"/>
            <a:ext cx="3949707" cy="177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✓ Cerelac 96% market dominance</a:t>
            </a:r>
            <a:endParaRPr lang="en-US" sz="12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653158" y="2043048"/>
            <a:ext cx="3362550" cy="302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✓ Premium brand positioning</a:t>
            </a:r>
            <a:endParaRPr lang="en-US" sz="12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045"/>
            <a:ext cx="808329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REDUCE: Godrej Consumer Products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1575"/>
            <a:ext cx="80832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12"/>
              </a:lnSpc>
              <a:buNone/>
            </a:pPr>
            <a:r>
              <a:rPr lang="en-US" sz="132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Concerns ⚠️</a:t>
            </a:r>
            <a:endParaRPr lang="en-US" sz="1320" dirty="0"/>
          </a:p>
        </p:txBody>
      </p:sp>
      <p:sp>
        <p:nvSpPr>
          <p:cNvPr id="4" name="Text 2"/>
          <p:cNvSpPr/>
          <p:nvPr/>
        </p:nvSpPr>
        <p:spPr>
          <a:xfrm>
            <a:off x="609600" y="3347858"/>
            <a:ext cx="80832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12"/>
              </a:lnSpc>
              <a:buNone/>
            </a:pPr>
            <a:r>
              <a:rPr lang="en-US" sz="132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Position</a:t>
            </a:r>
            <a:endParaRPr lang="en-US" sz="1320" dirty="0"/>
          </a:p>
        </p:txBody>
      </p:sp>
      <p:sp>
        <p:nvSpPr>
          <p:cNvPr id="5" name="Text 3"/>
          <p:cNvSpPr/>
          <p:nvPr/>
        </p:nvSpPr>
        <p:spPr>
          <a:xfrm>
            <a:off x="609600" y="3627998"/>
            <a:ext cx="792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❌ Market Share:</a:t>
            </a:r>
            <a:r>
              <a:rPr lang="en-US" sz="12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 2% (Niche player)</a:t>
            </a:r>
            <a:endParaRPr lang="en-US" sz="12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9600" y="3875648"/>
            <a:ext cx="792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❌ Scale:</a:t>
            </a:r>
            <a:r>
              <a:rPr lang="en-US" sz="12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 Unable to compete with HUL/ITC</a:t>
            </a:r>
            <a:endParaRPr lang="en-US" sz="12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7" name="Text 5"/>
          <p:cNvSpPr/>
          <p:nvPr/>
        </p:nvSpPr>
        <p:spPr>
          <a:xfrm>
            <a:off x="621343" y="4123298"/>
            <a:ext cx="792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❌ Efficiency:</a:t>
            </a:r>
            <a:r>
              <a:rPr lang="en-US" sz="12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 Structural profitability issues</a:t>
            </a:r>
            <a:endParaRPr lang="en-US" sz="12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8" name="Text 6"/>
          <p:cNvSpPr/>
          <p:nvPr/>
        </p:nvSpPr>
        <p:spPr>
          <a:xfrm>
            <a:off x="621343" y="4374862"/>
            <a:ext cx="7924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❌ Alternatives:</a:t>
            </a:r>
            <a:r>
              <a:rPr lang="en-US" sz="12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 ITC &amp; Britannia offer better risk-reward</a:t>
            </a:r>
            <a:endParaRPr lang="en-US" sz="12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9" name="Text 7"/>
          <p:cNvSpPr/>
          <p:nvPr/>
        </p:nvSpPr>
        <p:spPr>
          <a:xfrm>
            <a:off x="621343" y="4622251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</a:t>
            </a:r>
            <a:r>
              <a:rPr lang="en-US" sz="1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Avoid or exit positions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9600" y="4793701"/>
            <a:ext cx="80832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24"/>
              </a:lnSpc>
              <a:buNone/>
            </a:pPr>
            <a:r>
              <a:rPr lang="en-US" sz="102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return: -3 to -7%</a:t>
            </a:r>
            <a:endParaRPr lang="en-US" sz="1020" dirty="0"/>
          </a:p>
        </p:txBody>
      </p:sp>
      <p:pic>
        <p:nvPicPr>
          <p:cNvPr id="11" name="Picture 10" descr="A screenshot of a phone&#10;&#10;AI-generated content may be incorrect.">
            <a:extLst>
              <a:ext uri="{FF2B5EF4-FFF2-40B4-BE49-F238E27FC236}">
                <a16:creationId xmlns:a16="http://schemas.microsoft.com/office/drawing/2014/main" id="{A9871572-0EA5-E359-A706-D0DEDC168F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952" y="635807"/>
            <a:ext cx="8431583" cy="255665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8194" y="394750"/>
            <a:ext cx="808329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 Valuation Scoring (Detailed)</a:t>
            </a:r>
            <a:endParaRPr lang="en-US" sz="2700" dirty="0"/>
          </a:p>
        </p:txBody>
      </p:sp>
      <p:pic>
        <p:nvPicPr>
          <p:cNvPr id="3" name="Picture 2" descr="A screen shot of a chart&#10;&#10;AI-generated content may be incorrect.">
            <a:extLst>
              <a:ext uri="{FF2B5EF4-FFF2-40B4-BE49-F238E27FC236}">
                <a16:creationId xmlns:a16="http://schemas.microsoft.com/office/drawing/2014/main" id="{0AFDC9C2-8DDA-8CCA-583E-5C998729B2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62148"/>
            <a:ext cx="9144000" cy="326609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-1044"/>
            <a:ext cx="79248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Construction: Investor-Type Recommendations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021393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Value Investors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09600" y="1288093"/>
            <a:ext cx="80832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96"/>
              </a:lnSpc>
              <a:buNone/>
            </a:pPr>
            <a:r>
              <a:rPr lang="en-US" sz="1050" dirty="0">
                <a:solidFill>
                  <a:srgbClr val="00B0F0"/>
                </a:solidFill>
                <a:latin typeface="Arial"/>
                <a:ea typeface="Arial" pitchFamily="34" charset="-122"/>
                <a:cs typeface="Arial"/>
              </a:rPr>
              <a:t>Allocation:</a:t>
            </a:r>
            <a:endParaRPr lang="en-US" sz="1050">
              <a:solidFill>
                <a:srgbClr val="00B0F0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1440493"/>
            <a:ext cx="80832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96"/>
              </a:lnSpc>
              <a:buNone/>
            </a:pPr>
            <a:r>
              <a:rPr lang="en-US" sz="108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ITC 60% + Britannia 40%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609600" y="1649521"/>
            <a:ext cx="80832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96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12-Month Return:</a:t>
            </a:r>
            <a:endParaRPr lang="en-US" sz="105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7" name="Text 5"/>
          <p:cNvSpPr/>
          <p:nvPr/>
        </p:nvSpPr>
        <p:spPr>
          <a:xfrm>
            <a:off x="609600" y="1801921"/>
            <a:ext cx="80832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2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30-40%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609600" y="2000664"/>
            <a:ext cx="80832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24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Best value-quality blend</a:t>
            </a:r>
            <a:endParaRPr lang="en-US" sz="10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9600" y="2147192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Conservative Investors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600" y="2496094"/>
            <a:ext cx="80832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96"/>
              </a:lnSpc>
              <a:buNone/>
            </a:pPr>
            <a:r>
              <a:rPr lang="en-US" sz="1050" dirty="0">
                <a:solidFill>
                  <a:srgbClr val="00B0F0"/>
                </a:solidFill>
                <a:latin typeface="Arial"/>
                <a:ea typeface="Arial" pitchFamily="34" charset="-122"/>
                <a:cs typeface="Arial"/>
              </a:rPr>
              <a:t>Allocation:</a:t>
            </a:r>
            <a:endParaRPr lang="en-US" sz="1050">
              <a:solidFill>
                <a:srgbClr val="00B0F0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09600" y="2648494"/>
            <a:ext cx="80832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96"/>
              </a:lnSpc>
              <a:buNone/>
            </a:pPr>
            <a:r>
              <a:rPr lang="en-US" sz="1050" dirty="0">
                <a:solidFill>
                  <a:srgbClr val="00B050"/>
                </a:solidFill>
                <a:latin typeface="Arial"/>
                <a:ea typeface="Arial" pitchFamily="34" charset="-122"/>
                <a:cs typeface="Arial"/>
              </a:rPr>
              <a:t>HUL 40% + Britannia 40% + Nestle 20%</a:t>
            </a:r>
            <a:endParaRPr lang="en-US" sz="1050">
              <a:solidFill>
                <a:srgbClr val="00B050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09600" y="2802721"/>
            <a:ext cx="80832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96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12-Month Return:</a:t>
            </a:r>
            <a:endParaRPr lang="en-US" sz="105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9600" y="2955121"/>
            <a:ext cx="80832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00" dirty="0">
                <a:solidFill>
                  <a:srgbClr val="00B050"/>
                </a:solidFill>
                <a:latin typeface="Arial"/>
                <a:ea typeface="Arial" pitchFamily="34" charset="-122"/>
                <a:cs typeface="Arial"/>
              </a:rPr>
              <a:t>15-20%</a:t>
            </a:r>
            <a:endParaRPr lang="en-US" sz="1300">
              <a:solidFill>
                <a:srgbClr val="00B050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09600" y="3153863"/>
            <a:ext cx="80832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24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Dividend + growth balance</a:t>
            </a:r>
            <a:endParaRPr lang="en-US" sz="10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09600" y="3296477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Growth Investors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09600" y="3629722"/>
            <a:ext cx="80832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96"/>
              </a:lnSpc>
              <a:buNone/>
            </a:pPr>
            <a:r>
              <a:rPr lang="en-US" sz="1050" dirty="0">
                <a:solidFill>
                  <a:srgbClr val="00B0F0"/>
                </a:solidFill>
                <a:latin typeface="Arial"/>
                <a:ea typeface="Arial" pitchFamily="34" charset="-122"/>
                <a:cs typeface="Arial"/>
              </a:rPr>
              <a:t>Allocation:</a:t>
            </a:r>
            <a:endParaRPr lang="en-US" sz="1050">
              <a:solidFill>
                <a:srgbClr val="00B0F0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09600" y="3782122"/>
            <a:ext cx="80832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96"/>
              </a:lnSpc>
              <a:buNone/>
            </a:pPr>
            <a:r>
              <a:rPr lang="en-US" sz="1050" dirty="0">
                <a:solidFill>
                  <a:srgbClr val="00B050"/>
                </a:solidFill>
                <a:latin typeface="Arial"/>
                <a:ea typeface="Arial" pitchFamily="34" charset="-122"/>
                <a:cs typeface="Arial"/>
              </a:rPr>
              <a:t>ITC 50% + Britannia 30% + Nestle 20%</a:t>
            </a:r>
            <a:endParaRPr lang="en-US" sz="1050">
              <a:solidFill>
                <a:srgbClr val="00B050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09600" y="4014636"/>
            <a:ext cx="80832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96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12-Month Return:</a:t>
            </a:r>
            <a:endParaRPr lang="en-US" sz="105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09600" y="4167036"/>
            <a:ext cx="80832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00" dirty="0">
                <a:solidFill>
                  <a:srgbClr val="00B050"/>
                </a:solidFill>
                <a:latin typeface="Arial"/>
                <a:ea typeface="Arial" pitchFamily="34" charset="-122"/>
                <a:cs typeface="Arial"/>
              </a:rPr>
              <a:t>25-35%</a:t>
            </a:r>
            <a:endParaRPr lang="en-US" sz="1300">
              <a:solidFill>
                <a:srgbClr val="00B050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09600" y="4365780"/>
            <a:ext cx="80832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24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Growth with quality</a:t>
            </a:r>
            <a:endParaRPr lang="en-US" sz="10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052425" y="1020678"/>
            <a:ext cx="34799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 Dividend Seekers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052425" y="1287378"/>
            <a:ext cx="4560351" cy="160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96"/>
              </a:lnSpc>
              <a:buNone/>
            </a:pPr>
            <a:r>
              <a:rPr lang="en-US" sz="1050" dirty="0">
                <a:solidFill>
                  <a:srgbClr val="00B0F0"/>
                </a:solidFill>
                <a:latin typeface="Arial"/>
                <a:ea typeface="Arial" pitchFamily="34" charset="-122"/>
                <a:cs typeface="Arial"/>
              </a:rPr>
              <a:t>Allocation:</a:t>
            </a:r>
            <a:endParaRPr lang="en-US" sz="1050">
              <a:solidFill>
                <a:srgbClr val="00B0F0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052425" y="1420205"/>
            <a:ext cx="4568180" cy="23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96"/>
              </a:lnSpc>
              <a:buNone/>
            </a:pPr>
            <a:r>
              <a:rPr lang="en-US" sz="1050" dirty="0">
                <a:solidFill>
                  <a:srgbClr val="00B050"/>
                </a:solidFill>
                <a:latin typeface="Arial"/>
                <a:ea typeface="Arial" pitchFamily="34" charset="-122"/>
                <a:cs typeface="Arial"/>
              </a:rPr>
              <a:t>ITC 40% + HUL 35% + Britannia 25%</a:t>
            </a:r>
            <a:endParaRPr lang="en-US" sz="1050">
              <a:solidFill>
                <a:srgbClr val="00B050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052425" y="1594004"/>
            <a:ext cx="3824447" cy="183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96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12-Month Return:</a:t>
            </a:r>
            <a:endParaRPr lang="en-US" sz="105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052425" y="1801205"/>
            <a:ext cx="4576009" cy="153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84"/>
              </a:lnSpc>
              <a:buNone/>
            </a:pPr>
            <a:r>
              <a:rPr lang="en-US" sz="1300" dirty="0">
                <a:solidFill>
                  <a:srgbClr val="00B050"/>
                </a:solidFill>
                <a:latin typeface="Arial"/>
                <a:ea typeface="Arial" pitchFamily="34" charset="-122"/>
                <a:cs typeface="Arial"/>
              </a:rPr>
              <a:t>18-25%</a:t>
            </a:r>
            <a:endParaRPr lang="en-US" sz="1300">
              <a:solidFill>
                <a:srgbClr val="00B050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091569" y="1999948"/>
            <a:ext cx="4051481" cy="260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24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Income + appreciation</a:t>
            </a:r>
            <a:endParaRPr lang="en-US" sz="10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21388"/>
            <a:ext cx="7924800" cy="430473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152354"/>
            <a:ext cx="7924800" cy="344358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1597203"/>
            <a:ext cx="7924800" cy="367844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2247080"/>
            <a:ext cx="7924800" cy="348272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2676272"/>
            <a:ext cx="7924800" cy="348272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3117207"/>
            <a:ext cx="7924800" cy="348272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-1044"/>
            <a:ext cx="808329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Analysis &amp; Mitigation Strategies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09600" y="404356"/>
            <a:ext cx="80832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12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Risks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790575" y="640699"/>
            <a:ext cx="774325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32"/>
              </a:lnSpc>
              <a:buNone/>
            </a:pPr>
            <a:r>
              <a:rPr lang="en-US" sz="10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Economic Recession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790575" y="819218"/>
            <a:ext cx="77432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2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FMCG defensive, Nestle most resilient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790575" y="1152093"/>
            <a:ext cx="774325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32"/>
              </a:lnSpc>
              <a:buNone/>
            </a:pPr>
            <a:r>
              <a:rPr lang="en-US" sz="10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🟠 Input Cost Inflation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790575" y="1334525"/>
            <a:ext cx="77432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2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power in premium, hedging programs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790575" y="1596942"/>
            <a:ext cx="774325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32"/>
              </a:lnSpc>
              <a:buNone/>
            </a:pPr>
            <a:r>
              <a:rPr lang="en-US" sz="10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Currency Volatility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790575" y="1779375"/>
            <a:ext cx="77432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2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exposure (local costs)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609600" y="1963504"/>
            <a:ext cx="80832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12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Company-Specific Risks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790575" y="2246819"/>
            <a:ext cx="774325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32"/>
              </a:lnSpc>
              <a:buNone/>
            </a:pPr>
            <a:r>
              <a:rPr lang="en-US" sz="10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ITC: Tobacco Regulation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790575" y="2429253"/>
            <a:ext cx="77432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2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Priced in; FMCG diversification offsets</a:t>
            </a: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790575" y="2676011"/>
            <a:ext cx="774325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32"/>
              </a:lnSpc>
              <a:buNone/>
            </a:pPr>
            <a:r>
              <a:rPr lang="en-US" sz="10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HUL: Margin Compression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790575" y="2854529"/>
            <a:ext cx="77432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2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 programs + price hikes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790575" y="3116946"/>
            <a:ext cx="774325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32"/>
              </a:lnSpc>
              <a:buNone/>
            </a:pPr>
            <a:r>
              <a:rPr lang="en-US" sz="10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Nestle: Single Category Risk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790575" y="3299379"/>
            <a:ext cx="77432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2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Cerelac growth ceiling, new categories expanding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>
            <a:off x="609600" y="3557881"/>
            <a:ext cx="80832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12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 Strategies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609600" y="3829714"/>
            <a:ext cx="80832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2"/>
              </a:lnSpc>
              <a:buNone/>
            </a:pPr>
            <a:r>
              <a:rPr lang="en-US" sz="950" b="1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✓</a:t>
            </a:r>
            <a:r>
              <a:rPr lang="en-US" sz="95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 Portfolio diversification (multiple companies)</a:t>
            </a:r>
            <a:endParaRPr lang="en-US" sz="95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09600" y="3976503"/>
            <a:ext cx="80832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2"/>
              </a:lnSpc>
              <a:buNone/>
            </a:pPr>
            <a:r>
              <a:rPr lang="en-US" sz="950" b="1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✓</a:t>
            </a:r>
            <a:r>
              <a:rPr lang="en-US" sz="95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 Phase-wise investment (cost averaging)</a:t>
            </a:r>
            <a:endParaRPr lang="en-US" sz="95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21343" y="4115465"/>
            <a:ext cx="80832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2"/>
              </a:lnSpc>
              <a:buNone/>
            </a:pPr>
            <a:r>
              <a:rPr lang="en-US" sz="950" b="1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✓</a:t>
            </a:r>
            <a:r>
              <a:rPr lang="en-US" sz="95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 Regular monitoring (quarterly results)</a:t>
            </a:r>
            <a:endParaRPr lang="en-US" sz="950">
              <a:solidFill>
                <a:schemeClr val="bg1"/>
              </a:solidFill>
              <a:latin typeface="Arial"/>
              <a:ea typeface="Calibri"/>
              <a:cs typeface="Calibri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09600" y="4262253"/>
            <a:ext cx="80832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2"/>
              </a:lnSpc>
              <a:buNone/>
            </a:pPr>
            <a:r>
              <a:rPr lang="en-US" sz="950" b="1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✓</a:t>
            </a:r>
            <a:r>
              <a:rPr lang="en-US" sz="95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 Exit triggers (fundamentals deteriorate)</a:t>
            </a:r>
            <a:endParaRPr lang="en-US" sz="95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21343" y="4405128"/>
            <a:ext cx="80832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2"/>
              </a:lnSpc>
              <a:buNone/>
            </a:pPr>
            <a:r>
              <a:rPr lang="en-US" sz="950" b="1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✓</a:t>
            </a:r>
            <a:r>
              <a:rPr lang="en-US" sz="95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 Rebalancing (lock gains, reduce risk)</a:t>
            </a:r>
            <a:endParaRPr lang="en-US" sz="95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6970" y="3627720"/>
            <a:ext cx="7924800" cy="116964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02504"/>
            <a:ext cx="808329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Roadmap &amp; Key Metrics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748822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Immediate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9600" y="1085980"/>
            <a:ext cx="80832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24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Next 1-2 Months</a:t>
            </a:r>
            <a:endParaRPr lang="en-US" sz="10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9600" y="1228855"/>
            <a:ext cx="80832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24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• Buy ITC on dips &lt;₹390</a:t>
            </a:r>
            <a:endParaRPr lang="en-US" sz="10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7" name="Text 5"/>
          <p:cNvSpPr/>
          <p:nvPr/>
        </p:nvSpPr>
        <p:spPr>
          <a:xfrm>
            <a:off x="609600" y="1367816"/>
            <a:ext cx="80832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24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• Build Britannia position</a:t>
            </a:r>
            <a:endParaRPr lang="en-US" sz="10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9600" y="1510691"/>
            <a:ext cx="80832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24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• Monitor quarterly results</a:t>
            </a:r>
            <a:endParaRPr lang="en-US" sz="10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9600" y="1653305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Medium-term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600" y="1974807"/>
            <a:ext cx="80832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24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2-6 Months</a:t>
            </a:r>
            <a:endParaRPr lang="en-US" sz="10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09600" y="2117682"/>
            <a:ext cx="80832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24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• Track earnings growth</a:t>
            </a:r>
            <a:endParaRPr lang="en-US" sz="10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09600" y="2264471"/>
            <a:ext cx="80832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24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• Add on 10%+ dips</a:t>
            </a:r>
            <a:endParaRPr lang="en-US" sz="10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09600" y="2407346"/>
            <a:ext cx="80832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24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• Review market share trends</a:t>
            </a:r>
            <a:endParaRPr lang="en-US" sz="10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09600" y="2573446"/>
            <a:ext cx="8083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Long-term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09600" y="2941920"/>
            <a:ext cx="80832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24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6-12 Months</a:t>
            </a:r>
            <a:endParaRPr lang="en-US" sz="10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09600" y="3080881"/>
            <a:ext cx="80832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24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• Take 30-40% profits from ITC</a:t>
            </a:r>
            <a:endParaRPr lang="en-US" sz="10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09600" y="3227670"/>
            <a:ext cx="80832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24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• Rebalance portfolio</a:t>
            </a:r>
            <a:endParaRPr lang="en-US" sz="10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21343" y="3366631"/>
            <a:ext cx="80832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24"/>
              </a:lnSpc>
              <a:buNone/>
            </a:pPr>
            <a:r>
              <a:rPr lang="en-US" sz="1000" dirty="0">
                <a:solidFill>
                  <a:schemeClr val="bg1"/>
                </a:solidFill>
                <a:latin typeface="Arial"/>
                <a:ea typeface="Arial" pitchFamily="34" charset="-122"/>
                <a:cs typeface="Arial"/>
              </a:rPr>
              <a:t>• Lock gains &amp; manage risk</a:t>
            </a:r>
            <a:endParaRPr lang="en-US" sz="10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90575" y="3717490"/>
            <a:ext cx="774325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24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 to Monitor</a:t>
            </a:r>
            <a:endParaRPr lang="en-US" sz="1140" dirty="0"/>
          </a:p>
        </p:txBody>
      </p:sp>
      <p:sp>
        <p:nvSpPr>
          <p:cNvPr id="20" name="Text 18"/>
          <p:cNvSpPr/>
          <p:nvPr/>
        </p:nvSpPr>
        <p:spPr>
          <a:xfrm>
            <a:off x="790575" y="3973774"/>
            <a:ext cx="77432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96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ITC FMCG Growth: Confirm &gt;10%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790575" y="4139613"/>
            <a:ext cx="77432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96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Britannia ROE: Maintain &gt;50%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778832" y="4301538"/>
            <a:ext cx="77432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96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HUL Volume: Accelerate &gt;3%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790575" y="4463463"/>
            <a:ext cx="77432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96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Sector CAGR: Track 17%+ growth</a:t>
            </a:r>
            <a:endParaRPr lang="en-US" sz="10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89611" y="995363"/>
            <a:ext cx="5364778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Decision Framework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1501447" y="1633538"/>
            <a:ext cx="614110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24"/>
              </a:lnSpc>
              <a:buNone/>
            </a:pPr>
            <a:r>
              <a:rPr lang="en-US" sz="126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Opportunity:</a:t>
            </a:r>
            <a:r>
              <a:rPr lang="en-US" sz="12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Indian FMCG projected to reach USD 1.1T by 2033</a:t>
            </a:r>
            <a:endParaRPr lang="en-US" sz="1260" dirty="0"/>
          </a:p>
        </p:txBody>
      </p:sp>
      <p:sp>
        <p:nvSpPr>
          <p:cNvPr id="4" name="Text 2"/>
          <p:cNvSpPr/>
          <p:nvPr/>
        </p:nvSpPr>
        <p:spPr>
          <a:xfrm>
            <a:off x="1501447" y="2071688"/>
            <a:ext cx="614110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24"/>
              </a:lnSpc>
              <a:buNone/>
            </a:pPr>
            <a:r>
              <a:rPr lang="en-US" sz="126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Thesis:</a:t>
            </a:r>
            <a:r>
              <a:rPr lang="en-US" sz="12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17.33% CAGR driven by urbanization, premiumization, e-commerce</a:t>
            </a:r>
            <a:endParaRPr lang="en-US" sz="1260" dirty="0"/>
          </a:p>
        </p:txBody>
      </p:sp>
      <p:sp>
        <p:nvSpPr>
          <p:cNvPr id="5" name="Text 3"/>
          <p:cNvSpPr/>
          <p:nvPr/>
        </p:nvSpPr>
        <p:spPr>
          <a:xfrm>
            <a:off x="1501447" y="2509838"/>
            <a:ext cx="614110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24"/>
              </a:lnSpc>
              <a:buNone/>
            </a:pPr>
            <a:r>
              <a:rPr lang="en-US" sz="126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Value Play:</a:t>
            </a:r>
            <a:r>
              <a:rPr lang="en-US" sz="12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ITC at 24.89x P/E with 30-37% upside</a:t>
            </a:r>
            <a:endParaRPr lang="en-US" sz="1260" dirty="0"/>
          </a:p>
        </p:txBody>
      </p:sp>
      <p:sp>
        <p:nvSpPr>
          <p:cNvPr id="6" name="Text 4"/>
          <p:cNvSpPr/>
          <p:nvPr/>
        </p:nvSpPr>
        <p:spPr>
          <a:xfrm>
            <a:off x="1501447" y="2947988"/>
            <a:ext cx="614110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24"/>
              </a:lnSpc>
              <a:buNone/>
            </a:pPr>
            <a:r>
              <a:rPr lang="en-US" sz="126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Alternative:</a:t>
            </a:r>
            <a:r>
              <a:rPr lang="en-US" sz="12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Britannia with 54.80% ROE at reasonable valuation</a:t>
            </a:r>
            <a:endParaRPr lang="en-US" sz="1260" dirty="0"/>
          </a:p>
        </p:txBody>
      </p:sp>
      <p:sp>
        <p:nvSpPr>
          <p:cNvPr id="7" name="Text 5"/>
          <p:cNvSpPr/>
          <p:nvPr/>
        </p:nvSpPr>
        <p:spPr>
          <a:xfrm>
            <a:off x="1501447" y="3386138"/>
            <a:ext cx="6141107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12"/>
              </a:lnSpc>
              <a:buNone/>
            </a:pPr>
            <a:r>
              <a:rPr lang="en-US" sz="138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Portfolio: 60% ITC + 40% Britannia</a:t>
            </a:r>
            <a:endParaRPr lang="en-US" sz="1380" dirty="0"/>
          </a:p>
        </p:txBody>
      </p:sp>
      <p:sp>
        <p:nvSpPr>
          <p:cNvPr id="8" name="Text 6"/>
          <p:cNvSpPr/>
          <p:nvPr/>
        </p:nvSpPr>
        <p:spPr>
          <a:xfrm>
            <a:off x="1501447" y="3852863"/>
            <a:ext cx="614110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68"/>
              </a:lnSpc>
              <a:buNone/>
            </a:pPr>
            <a:r>
              <a:rPr lang="en-US" sz="132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12-Month Return: 30-40%</a:t>
            </a:r>
            <a:endParaRPr lang="en-US" sz="13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13881"/>
            <a:ext cx="8083296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 &amp; Next Steps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71575"/>
            <a:ext cx="808329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Sector Strength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38200" y="1485900"/>
            <a:ext cx="7696200" cy="1384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Defensive &amp; growing (17.33% CAGR)</a:t>
            </a:r>
            <a:endParaRPr lang="en-US" sz="1140" dirty="0"/>
          </a:p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peers: strong balance sheets</a:t>
            </a:r>
            <a:endParaRPr lang="en-US" sz="1140" dirty="0"/>
          </a:p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leverage (D/E &lt;0.3x)</a:t>
            </a:r>
            <a:endParaRPr lang="en-US" sz="1140" dirty="0"/>
          </a:p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dividend capacity</a:t>
            </a:r>
            <a:endParaRPr lang="en-US" sz="1140" dirty="0"/>
          </a:p>
        </p:txBody>
      </p:sp>
      <p:sp>
        <p:nvSpPr>
          <p:cNvPr id="5" name="Text 3"/>
          <p:cNvSpPr/>
          <p:nvPr/>
        </p:nvSpPr>
        <p:spPr>
          <a:xfrm>
            <a:off x="609600" y="3136702"/>
            <a:ext cx="808329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Investment Opportunity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38200" y="3451027"/>
            <a:ext cx="7696200" cy="1384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ITC undervalued vs peers (55% discount)</a:t>
            </a:r>
            <a:endParaRPr lang="en-US" sz="1140" dirty="0"/>
          </a:p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Britannia quality at fair premium</a:t>
            </a:r>
            <a:endParaRPr lang="en-US" sz="1140" dirty="0"/>
          </a:p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growth drivers active</a:t>
            </a:r>
            <a:endParaRPr lang="en-US" sz="1140" dirty="0"/>
          </a:p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Risk-reward favorable</a:t>
            </a:r>
            <a:endParaRPr lang="en-US" sz="1140" dirty="0"/>
          </a:p>
        </p:txBody>
      </p:sp>
      <p:sp>
        <p:nvSpPr>
          <p:cNvPr id="7" name="Text 5"/>
          <p:cNvSpPr/>
          <p:nvPr/>
        </p:nvSpPr>
        <p:spPr>
          <a:xfrm>
            <a:off x="5040682" y="1167873"/>
            <a:ext cx="808329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Action Items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042248" y="1490026"/>
            <a:ext cx="7696200" cy="1384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ITC on dips &lt;₹390</a:t>
            </a:r>
            <a:endParaRPr lang="en-US" sz="1140" dirty="0"/>
          </a:p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Accumulate Britannia on weakness</a:t>
            </a:r>
            <a:endParaRPr lang="en-US" sz="1140" dirty="0"/>
          </a:p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Q3 FY26 earnings</a:t>
            </a:r>
            <a:endParaRPr lang="en-US" sz="1140" dirty="0"/>
          </a:p>
          <a:p>
            <a:pPr marL="342900" indent="-342900">
              <a:lnSpc>
                <a:spcPts val="2736"/>
              </a:lnSpc>
              <a:buSzPct val="100000"/>
              <a:buChar char="•"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quarterly progress</a:t>
            </a:r>
            <a:endParaRPr lang="en-US" sz="11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335</cp:revision>
  <dcterms:created xsi:type="dcterms:W3CDTF">2025-12-02T18:55:15Z</dcterms:created>
  <dcterms:modified xsi:type="dcterms:W3CDTF">2025-12-03T17:10:45Z</dcterms:modified>
</cp:coreProperties>
</file>